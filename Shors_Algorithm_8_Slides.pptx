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143000"/>
            <a:ext cx="3840480" cy="3840480"/>
          </a:xfrm>
          <a:prstGeom prst="ellipse">
            <a:avLst/>
          </a:prstGeom>
          <a:solidFill>
            <a:srgbClr val="13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02920"/>
            <a:ext cx="2560320" cy="2560320"/>
          </a:xfrm>
          <a:prstGeom prst="ellipse">
            <a:avLst/>
          </a:prstGeom>
          <a:solidFill>
            <a:srgbClr val="0A112A"/>
          </a:solidFill>
          <a:ln w="25400">
            <a:solidFill>
              <a:srgbClr val="43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27648"/>
            <a:ext cx="10972800" cy="22860"/>
          </a:xfrm>
          <a:prstGeom prst="rect">
            <a:avLst/>
          </a:prstGeom>
          <a:solidFill>
            <a:srgbClr val="43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48DCEB"/>
                </a:solidFill>
                <a:latin typeface="Aptos"/>
              </a:defRPr>
            </a:pPr>
            <a:r>
              <a:t>QUANTUM COMPUTING  /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987552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800" b="1">
                <a:solidFill>
                  <a:srgbClr val="F5F8FF"/>
                </a:solidFill>
                <a:latin typeface="Aptos"/>
              </a:defRPr>
            </a:pPr>
            <a:r>
              <a:t>SHOR’S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468880"/>
            <a:ext cx="96012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48DCEB"/>
                </a:solidFill>
                <a:latin typeface="Aptos"/>
              </a:defRPr>
            </a:pPr>
            <a:r>
              <a:t>Period Finding and Integer Factoring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310128"/>
            <a:ext cx="1051560" cy="73152"/>
          </a:xfrm>
          <a:prstGeom prst="rect">
            <a:avLst/>
          </a:prstGeom>
          <a:solidFill>
            <a:srgbClr val="9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657600"/>
            <a:ext cx="97840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BECBE5"/>
                </a:solidFill>
                <a:latin typeface="Aptos"/>
              </a:defRPr>
            </a:pPr>
            <a:r>
              <a:t>Quantum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233672"/>
            <a:ext cx="97840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BECBE5"/>
                </a:solidFill>
                <a:latin typeface="Aptos"/>
              </a:defRPr>
            </a:pPr>
            <a:r>
              <a:t>Key concepts: Period Finding • Quantum Fourier Transform • Integer Factoring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809744"/>
            <a:ext cx="978408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BECBE5"/>
                </a:solidFill>
                <a:latin typeface="Aptos"/>
              </a:defRPr>
            </a:pPr>
            <a:r>
              <a:t>Presented by: Aryan Kumar  •  Virat Singh  •  Yash Rajak  •  Yuvraj Sharma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5074920"/>
            <a:ext cx="155448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48DCEB"/>
                </a:solidFill>
                <a:latin typeface="Aptos"/>
              </a:defRPr>
            </a:pPr>
            <a:r>
              <a:t>QFT  →  r  →  p,q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143000"/>
            <a:ext cx="3840480" cy="3840480"/>
          </a:xfrm>
          <a:prstGeom prst="ellipse">
            <a:avLst/>
          </a:prstGeom>
          <a:solidFill>
            <a:srgbClr val="13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02920"/>
            <a:ext cx="2560320" cy="2560320"/>
          </a:xfrm>
          <a:prstGeom prst="ellipse">
            <a:avLst/>
          </a:prstGeom>
          <a:solidFill>
            <a:srgbClr val="0A112A"/>
          </a:solidFill>
          <a:ln w="25400">
            <a:solidFill>
              <a:srgbClr val="43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27648"/>
            <a:ext cx="10972800" cy="22860"/>
          </a:xfrm>
          <a:prstGeom prst="rect">
            <a:avLst/>
          </a:prstGeom>
          <a:solidFill>
            <a:srgbClr val="43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48DCEB"/>
                </a:solidFill>
                <a:latin typeface="Aptos"/>
              </a:defRPr>
            </a:pPr>
            <a:r>
              <a:t>QUANTUM COMPUTING  /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3327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8DCEB"/>
                </a:solidFill>
                <a:latin typeface="Aptos"/>
              </a:defRPr>
            </a:pPr>
            <a:r>
              <a:t>What is Shor’s Algorithm?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10835640" cy="3886200"/>
          </a:xfrm>
          <a:prstGeom prst="roundRect">
            <a:avLst/>
          </a:prstGeom>
          <a:solidFill>
            <a:srgbClr val="131E42"/>
          </a:solidFill>
          <a:ln>
            <a:solidFill>
              <a:srgbClr val="2A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195560" cy="3429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A quantum algorithm developed by Peter Shor in 1994.</a:t>
            </a:r>
          </a:p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Designed to factor large composite integers efficiently.</a:t>
            </a:r>
          </a:p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Uses quantum operations for period finding and classical post-processing.</a:t>
            </a:r>
          </a:p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Could challenge RSA encryption when large, fault-tolerant quantum computers become 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143000"/>
            <a:ext cx="3840480" cy="3840480"/>
          </a:xfrm>
          <a:prstGeom prst="ellipse">
            <a:avLst/>
          </a:prstGeom>
          <a:solidFill>
            <a:srgbClr val="13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02920"/>
            <a:ext cx="2560320" cy="2560320"/>
          </a:xfrm>
          <a:prstGeom prst="ellipse">
            <a:avLst/>
          </a:prstGeom>
          <a:solidFill>
            <a:srgbClr val="0A112A"/>
          </a:solidFill>
          <a:ln w="25400">
            <a:solidFill>
              <a:srgbClr val="43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27648"/>
            <a:ext cx="10972800" cy="22860"/>
          </a:xfrm>
          <a:prstGeom prst="rect">
            <a:avLst/>
          </a:prstGeom>
          <a:solidFill>
            <a:srgbClr val="43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48DCEB"/>
                </a:solidFill>
                <a:latin typeface="Aptos"/>
              </a:defRPr>
            </a:pPr>
            <a:r>
              <a:t>QUANTUM COMPUTING  /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INTEGER FACTORING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3327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8DCEB"/>
                </a:solidFill>
                <a:latin typeface="Aptos"/>
              </a:defRPr>
            </a:pPr>
            <a:r>
              <a:t>Breaking a number into prime factors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10835640" cy="3886200"/>
          </a:xfrm>
          <a:prstGeom prst="roundRect">
            <a:avLst/>
          </a:prstGeom>
          <a:solidFill>
            <a:srgbClr val="131E42"/>
          </a:solidFill>
          <a:ln>
            <a:solidFill>
              <a:srgbClr val="2A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195560" cy="3429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Integer factoring expresses a composite number as a product of smaller prime numbers.</a:t>
            </a:r>
          </a:p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Examples: 15 = 3 × 5   |   21 = 3 × 7   |   35 = 5 × 7</a:t>
            </a:r>
          </a:p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Factoring large integers is difficult for classical computers.</a:t>
            </a:r>
          </a:p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RSA security is based partly on the practical difficulty of factoring large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143000"/>
            <a:ext cx="3840480" cy="3840480"/>
          </a:xfrm>
          <a:prstGeom prst="ellipse">
            <a:avLst/>
          </a:prstGeom>
          <a:solidFill>
            <a:srgbClr val="13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02920"/>
            <a:ext cx="2560320" cy="2560320"/>
          </a:xfrm>
          <a:prstGeom prst="ellipse">
            <a:avLst/>
          </a:prstGeom>
          <a:solidFill>
            <a:srgbClr val="0A112A"/>
          </a:solidFill>
          <a:ln w="25400">
            <a:solidFill>
              <a:srgbClr val="43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27648"/>
            <a:ext cx="10972800" cy="22860"/>
          </a:xfrm>
          <a:prstGeom prst="rect">
            <a:avLst/>
          </a:prstGeom>
          <a:solidFill>
            <a:srgbClr val="43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48DCEB"/>
                </a:solidFill>
                <a:latin typeface="Aptos"/>
              </a:defRPr>
            </a:pPr>
            <a:r>
              <a:t>QUANTUM COMPUTING  /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PERIOD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3327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8DCEB"/>
                </a:solidFill>
                <a:latin typeface="Aptos"/>
              </a:defRPr>
            </a:pPr>
            <a:r>
              <a:t>The key mathematical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10835640" cy="3886200"/>
          </a:xfrm>
          <a:prstGeom prst="roundRect">
            <a:avLst/>
          </a:prstGeom>
          <a:solidFill>
            <a:srgbClr val="131E42"/>
          </a:solidFill>
          <a:ln>
            <a:solidFill>
              <a:srgbClr val="2A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195560" cy="3429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Choose a number a that is relatively prime to N.</a:t>
            </a:r>
          </a:p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Define the function:  f(x) = aˣ mod N</a:t>
            </a:r>
          </a:p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The period r is the smallest positive integer such that aʳ mod N = 1.</a:t>
            </a:r>
          </a:p>
          <a:p>
            <a:pPr>
              <a:spcAft>
                <a:spcPts val="12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t>Example: for a = 2 and N = 15, the values repeat after 4 steps, so r =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143000"/>
            <a:ext cx="3840480" cy="3840480"/>
          </a:xfrm>
          <a:prstGeom prst="ellipse">
            <a:avLst/>
          </a:prstGeom>
          <a:solidFill>
            <a:srgbClr val="13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02920"/>
            <a:ext cx="2560320" cy="2560320"/>
          </a:xfrm>
          <a:prstGeom prst="ellipse">
            <a:avLst/>
          </a:prstGeom>
          <a:solidFill>
            <a:srgbClr val="0A112A"/>
          </a:solidFill>
          <a:ln w="25400">
            <a:solidFill>
              <a:srgbClr val="43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27648"/>
            <a:ext cx="10972800" cy="22860"/>
          </a:xfrm>
          <a:prstGeom prst="rect">
            <a:avLst/>
          </a:prstGeom>
          <a:solidFill>
            <a:srgbClr val="43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48DCEB"/>
                </a:solidFill>
                <a:latin typeface="Aptos"/>
              </a:defRPr>
            </a:pPr>
            <a:r>
              <a:t>QUANTUM COMPUTING  /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3327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8DCEB"/>
                </a:solidFill>
                <a:latin typeface="Aptos"/>
              </a:defRPr>
            </a:pPr>
            <a:r>
              <a:t>The main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10835640" cy="3886200"/>
          </a:xfrm>
          <a:prstGeom prst="roundRect">
            <a:avLst/>
          </a:prstGeom>
          <a:solidFill>
            <a:srgbClr val="131E42"/>
          </a:solidFill>
          <a:ln>
            <a:solidFill>
              <a:srgbClr val="2A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195560" cy="3429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1. Choose a random integer a with 1 &lt; a &lt; N.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2. Compute gcd(a, N); if it is greater than 1, a factor is already found.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3. Use a quantum circuit to estimate the period r of f(x) = aˣ mod N.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4. Apply the Quantum Fourier Transform (QFT) and measure the output.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5. Use classical processing, including continued fractions, to estimate r.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6. If r is suitable, calculate gcd(aʳᐟ² − 1, N) and gcd(aʳᐟ² + 1, 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143000"/>
            <a:ext cx="3840480" cy="3840480"/>
          </a:xfrm>
          <a:prstGeom prst="ellipse">
            <a:avLst/>
          </a:prstGeom>
          <a:solidFill>
            <a:srgbClr val="13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02920"/>
            <a:ext cx="2560320" cy="2560320"/>
          </a:xfrm>
          <a:prstGeom prst="ellipse">
            <a:avLst/>
          </a:prstGeom>
          <a:solidFill>
            <a:srgbClr val="0A112A"/>
          </a:solidFill>
          <a:ln w="25400">
            <a:solidFill>
              <a:srgbClr val="43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27648"/>
            <a:ext cx="10972800" cy="22860"/>
          </a:xfrm>
          <a:prstGeom prst="rect">
            <a:avLst/>
          </a:prstGeom>
          <a:solidFill>
            <a:srgbClr val="43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48DCEB"/>
                </a:solidFill>
                <a:latin typeface="Aptos"/>
              </a:defRPr>
            </a:pPr>
            <a:r>
              <a:t>QUANTUM COMPUTING  /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WORKED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3327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8DCEB"/>
                </a:solidFill>
                <a:latin typeface="Aptos"/>
              </a:defRPr>
            </a:pPr>
            <a:r>
              <a:t>Factor 15 using a =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10835640" cy="3886200"/>
          </a:xfrm>
          <a:prstGeom prst="roundRect">
            <a:avLst/>
          </a:prstGeom>
          <a:solidFill>
            <a:srgbClr val="131E42"/>
          </a:solidFill>
          <a:ln>
            <a:solidFill>
              <a:srgbClr val="2A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195560" cy="3429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Compute powers modulo 15:  2⁰ → 1,  2¹ → 2,  2² → 4,  2³ → 8,  2⁴ → 1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The sequence repeats, so the period is r = 4.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Since r is even:  aʳᐟ² = 2² = 4.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First factor: gcd(4 − 1, 15) = gcd(3, 15) = 3.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Second factor: gcd(4 + 1, 15) = gcd(5, 15) = 5.</a:t>
            </a:r>
          </a:p>
          <a:p>
            <a:pPr>
              <a:spcAft>
                <a:spcPts val="700"/>
              </a:spcAft>
              <a:defRPr sz="1550" b="1">
                <a:solidFill>
                  <a:srgbClr val="48DCEB"/>
                </a:solidFill>
                <a:latin typeface="Aptos"/>
              </a:defRPr>
            </a:pPr>
            <a:r>
              <a:t>RESULT: 15 = 3 ×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5623560"/>
            <a:ext cx="23774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48DCEB"/>
                </a:solidFill>
                <a:latin typeface="Aptos"/>
              </a:defRPr>
            </a:pPr>
            <a:r>
              <a:t>15  →  3 ×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143000"/>
            <a:ext cx="3840480" cy="3840480"/>
          </a:xfrm>
          <a:prstGeom prst="ellipse">
            <a:avLst/>
          </a:prstGeom>
          <a:solidFill>
            <a:srgbClr val="13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02920"/>
            <a:ext cx="2560320" cy="2560320"/>
          </a:xfrm>
          <a:prstGeom prst="ellipse">
            <a:avLst/>
          </a:prstGeom>
          <a:solidFill>
            <a:srgbClr val="0A112A"/>
          </a:solidFill>
          <a:ln w="25400">
            <a:solidFill>
              <a:srgbClr val="43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27648"/>
            <a:ext cx="10972800" cy="22860"/>
          </a:xfrm>
          <a:prstGeom prst="rect">
            <a:avLst/>
          </a:prstGeom>
          <a:solidFill>
            <a:srgbClr val="43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48DCEB"/>
                </a:solidFill>
                <a:latin typeface="Aptos"/>
              </a:defRPr>
            </a:pPr>
            <a:r>
              <a:t>QUANTUM COMPUTING  /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ADVANTAGES &amp;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3327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8DCEB"/>
                </a:solidFill>
                <a:latin typeface="Aptos"/>
              </a:defRPr>
            </a:pPr>
            <a:r>
              <a:t>Potential and practical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10835640" cy="3886200"/>
          </a:xfrm>
          <a:prstGeom prst="roundRect">
            <a:avLst/>
          </a:prstGeom>
          <a:solidFill>
            <a:srgbClr val="131E42"/>
          </a:solidFill>
          <a:ln>
            <a:solidFill>
              <a:srgbClr val="2A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195560" cy="3429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700"/>
              </a:spcAft>
              <a:defRPr sz="1550" b="1">
                <a:solidFill>
                  <a:srgbClr val="48DCEB"/>
                </a:solidFill>
                <a:latin typeface="Aptos"/>
              </a:defRPr>
            </a:pPr>
            <a:r>
              <a:t>ADVANTAGES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• Polynomial-time factoring in the input size on a suitable fault-tolerant quantum computer.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• Important for cryptography, cybersecurity, and quantum-computing research.</a:t>
            </a:r>
          </a:p>
          <a:p>
            <a:pPr>
              <a:spcAft>
                <a:spcPts val="700"/>
              </a:spcAft>
              <a:defRPr sz="1550" b="1">
                <a:solidFill>
                  <a:srgbClr val="48DCEB"/>
                </a:solidFill>
                <a:latin typeface="Aptos"/>
              </a:defRPr>
            </a:pPr>
            <a:r>
              <a:t>LIMITATIONS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• Large-scale use requires many reliable qubits and error correction.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• Current quantum hardware is affected by noise and operational errors.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• It does not speed up every type of computational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143000"/>
            <a:ext cx="3840480" cy="3840480"/>
          </a:xfrm>
          <a:prstGeom prst="ellipse">
            <a:avLst/>
          </a:prstGeom>
          <a:solidFill>
            <a:srgbClr val="13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-502920"/>
            <a:ext cx="2560320" cy="2560320"/>
          </a:xfrm>
          <a:prstGeom prst="ellipse">
            <a:avLst/>
          </a:prstGeom>
          <a:solidFill>
            <a:srgbClr val="0A112A"/>
          </a:solidFill>
          <a:ln w="25400">
            <a:solidFill>
              <a:srgbClr val="43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327648"/>
            <a:ext cx="10972800" cy="22860"/>
          </a:xfrm>
          <a:prstGeom prst="rect">
            <a:avLst/>
          </a:prstGeom>
          <a:solidFill>
            <a:srgbClr val="439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84048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48DCEB"/>
                </a:solidFill>
                <a:latin typeface="Aptos"/>
              </a:defRPr>
            </a:pPr>
            <a:r>
              <a:t>QUANTUM COMPUTING  /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900" b="1">
                <a:solidFill>
                  <a:srgbClr val="F5F8FF"/>
                </a:solidFill>
                <a:latin typeface="Aptos"/>
              </a:defRPr>
            </a:pPr>
            <a:r>
              <a:t>APPLICATIONS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33272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48DCEB"/>
                </a:solidFill>
                <a:latin typeface="Aptos"/>
              </a:defRPr>
            </a:pPr>
            <a:r>
              <a:t>Why Shor’s Algorithm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10835640" cy="3886200"/>
          </a:xfrm>
          <a:prstGeom prst="roundRect">
            <a:avLst/>
          </a:prstGeom>
          <a:solidFill>
            <a:srgbClr val="131E42"/>
          </a:solidFill>
          <a:ln>
            <a:solidFill>
              <a:srgbClr val="2A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0195560" cy="3429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Cryptography: highlights the future risk to RSA encryption.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Cybersecurity: encourages adoption of post-quantum cryptography.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Quantum research: demonstrates the value of period finding and QFT.</a:t>
            </a:r>
          </a:p>
          <a:p>
            <a:pPr>
              <a:spcAft>
                <a:spcPts val="700"/>
              </a:spcAft>
              <a:defRPr sz="1550" b="1">
                <a:solidFill>
                  <a:srgbClr val="48DCEB"/>
                </a:solidFill>
                <a:latin typeface="Aptos"/>
              </a:defRPr>
            </a:pPr>
            <a:r>
              <a:t>CONCLUSION</a:t>
            </a:r>
          </a:p>
          <a:p>
            <a:pPr>
              <a:spcAft>
                <a:spcPts val="700"/>
              </a:spcAft>
              <a:defRPr sz="1550" b="0">
                <a:solidFill>
                  <a:srgbClr val="F5F8FF"/>
                </a:solidFill>
                <a:latin typeface="Aptos"/>
              </a:defRPr>
            </a:pPr>
            <a:r>
              <a:t>Shor’s Algorithm shows how quantum computing could solve integer factoring far more efficiently than known classical methods.</a:t>
            </a:r>
          </a:p>
          <a:p>
            <a:pPr>
              <a:spcAft>
                <a:spcPts val="700"/>
              </a:spcAft>
              <a:defRPr sz="1550" b="1">
                <a:solidFill>
                  <a:srgbClr val="48DCEB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5596128"/>
            <a:ext cx="24688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9769FF"/>
                </a:solidFill>
                <a:latin typeface="Aptos"/>
              </a:defRPr>
            </a:pPr>
            <a:r>
              <a:t>QUANTUM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